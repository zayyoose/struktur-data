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53" d="100"/>
          <a:sy n="53" d="100"/>
        </p:scale>
        <p:origin x="1747" y="9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33302-67F9-D967-2417-85ECBB34F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F88C4-CF99-5798-9834-9E1E9FB56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4C8F6-2C5F-0C64-A9F5-236FB6FD8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9586-76DC-430B-82F7-812A95525B1A}" type="datetimeFigureOut">
              <a:rPr lang="en-ID" smtClean="0"/>
              <a:t>29/04/2024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79417-594F-2812-62F5-F235A2CC0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DC171-DBD6-10EC-8277-1AA3BE580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04D-9803-4D55-8097-B30CCC7BD8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0948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8E1CF-CF7A-E475-9FB1-CAD05F840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00A24-52BC-302E-27B4-56F4F42CA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8331C-DA94-5B84-C352-8A2E3CC1B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9586-76DC-430B-82F7-812A95525B1A}" type="datetimeFigureOut">
              <a:rPr lang="en-ID" smtClean="0"/>
              <a:t>29/04/2024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FE1C8-A26D-9772-F052-3DFE9FA6F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B13C7-BBA1-760F-9837-C00656800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04D-9803-4D55-8097-B30CCC7BD8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6620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512C9-F5C0-1697-A052-D29593861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E839E-A2FC-F51A-AF2E-D01249DD0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2DD72-69B3-A2C4-4DBC-25D7BA01B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9586-76DC-430B-82F7-812A95525B1A}" type="datetimeFigureOut">
              <a:rPr lang="en-ID" smtClean="0"/>
              <a:t>29/04/2024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C0434-4423-0736-9E1B-C9C609233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411B1-5903-9CF7-FB45-33FBAC491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04D-9803-4D55-8097-B30CCC7BD8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7955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3E687-0219-574A-3C1C-A0095407F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7BA32-836A-21D5-90FE-E9C0F9BB5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23E5C8-3982-69F5-EA52-3742F2A74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EF205-5944-E641-996A-26D6784A6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9586-76DC-430B-82F7-812A95525B1A}" type="datetimeFigureOut">
              <a:rPr lang="en-ID" smtClean="0"/>
              <a:t>29/04/2024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4EEA0-A114-E513-F0D9-90CC6290A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E6024-50C6-C3F3-D413-5E96E84D7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04D-9803-4D55-8097-B30CCC7BD8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88491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E4454-F170-88BC-8AEE-1E3CC1723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92EB3-CD51-FBF0-8166-C78B81AB1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119EC-4D1B-75FA-7422-48437C938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788512-207A-7E8B-9879-B4FD225C0B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311A35-6ED6-DB6D-36C4-24B2A2DB53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4681DE-8183-0E44-A63E-36C2A0803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9586-76DC-430B-82F7-812A95525B1A}" type="datetimeFigureOut">
              <a:rPr lang="en-ID" smtClean="0"/>
              <a:t>29/04/2024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5B2C78-B52D-B81B-DC20-FD5CFE880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867AD0-5D84-37B2-E93D-F3D7688D6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04D-9803-4D55-8097-B30CCC7BD8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75803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5B0A-917A-F471-69B6-A0972E4FB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C7D50C-2B5C-DA1D-E52A-6592099C3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9586-76DC-430B-82F7-812A95525B1A}" type="datetimeFigureOut">
              <a:rPr lang="en-ID" smtClean="0"/>
              <a:t>29/04/2024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272EF7-93DB-11E3-6B73-A3238BB7F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366B7-16F4-4793-D998-7FE85839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04D-9803-4D55-8097-B30CCC7BD8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9782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4264ED-AFCB-A9D5-F439-C5B977A1E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9586-76DC-430B-82F7-812A95525B1A}" type="datetimeFigureOut">
              <a:rPr lang="en-ID" smtClean="0"/>
              <a:t>29/04/2024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B3562D-6FF9-6275-23C3-58556BD0E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32666-C095-F262-A69D-E78D5239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04D-9803-4D55-8097-B30CCC7BD8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5888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ECE4C-6FF2-DF80-191B-3414747C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4CDD4-9CBA-B192-6C7D-7ACA1BE4B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B98B2C-C28F-FDE2-D879-AB710F81A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A76C1-31E6-21A5-4AC6-65B6AF3F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9586-76DC-430B-82F7-812A95525B1A}" type="datetimeFigureOut">
              <a:rPr lang="en-ID" smtClean="0"/>
              <a:t>29/04/2024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A78CD-05AD-5682-2062-2F01ADB12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D5555-1286-44F4-95DE-3A15D8B7E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04D-9803-4D55-8097-B30CCC7BD8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5396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EB90A-676C-0CFD-74D1-8020713EB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C5EAF-ADE9-3E84-6FF0-D617082079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84472-889F-27A3-2F73-321CE4A47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F9129-D179-B25B-9E23-651258752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9586-76DC-430B-82F7-812A95525B1A}" type="datetimeFigureOut">
              <a:rPr lang="en-ID" smtClean="0"/>
              <a:t>29/04/2024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343E2-2648-BE5C-9DAC-CEC920642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6EAB3-8343-F9F7-0BD9-90CDAC676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04D-9803-4D55-8097-B30CCC7BD8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86722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928E6-532D-D21C-3846-0476C3D20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DE10B6-54C1-2DBE-27CC-4CEF89AA1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D3919-868D-FE2E-4EC1-6A4F99455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9586-76DC-430B-82F7-812A95525B1A}" type="datetimeFigureOut">
              <a:rPr lang="en-ID" smtClean="0"/>
              <a:t>29/04/2024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3A116-5322-D40A-3F8F-3B9ECD0F6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7FFC0-7103-75BE-FE7D-0DA45828E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04D-9803-4D55-8097-B30CCC7BD8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76772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8C4802-58DB-77C1-5611-12B3CFFBA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37079-44F6-B6AB-DE61-870F0A406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07C9A-6261-86A3-B18A-5533D1FDF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9586-76DC-430B-82F7-812A95525B1A}" type="datetimeFigureOut">
              <a:rPr lang="en-ID" smtClean="0"/>
              <a:t>29/04/2024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C96C6-F4C4-09B8-3F85-36DCB0EC7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CA52D-5692-E23C-9092-BABCD8E58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9F04D-9803-4D55-8097-B30CCC7BD8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8132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CD93EB-B4C1-F14A-BD60-E0C634085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CE2AF-3905-5960-107D-9AA5D420B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D4445-328B-C1BC-99F2-68281E73C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59586-76DC-430B-82F7-812A95525B1A}" type="datetimeFigureOut">
              <a:rPr lang="en-ID" smtClean="0"/>
              <a:t>29/04/2024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9A327-8739-7086-DB17-E2AA8111E8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20BF8-C659-83DB-3FCA-CE65BF631F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69F04D-9803-4D55-8097-B30CCC7BD8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108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kumparan.com/topic/kompute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B9E674-E84A-E2C3-1C04-5433AB6E10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782137"/>
          </a:xfrm>
        </p:spPr>
        <p:txBody>
          <a:bodyPr/>
          <a:lstStyle/>
          <a:p>
            <a:pPr algn="l"/>
            <a:r>
              <a:rPr lang="id-ID" dirty="0"/>
              <a:t>Nama Kelompok : Kurniawan	</a:t>
            </a:r>
          </a:p>
          <a:p>
            <a:pPr algn="l"/>
            <a:r>
              <a:rPr lang="id-ID" dirty="0"/>
              <a:t>		      Teguh Tegar Aulia</a:t>
            </a:r>
          </a:p>
          <a:p>
            <a:pPr algn="l"/>
            <a:r>
              <a:rPr lang="id-ID" dirty="0"/>
              <a:t>		      Rafly Akbar Ravsanjani</a:t>
            </a:r>
          </a:p>
          <a:p>
            <a:pPr algn="l"/>
            <a:r>
              <a:rPr lang="id-ID" dirty="0"/>
              <a:t>		      Dhicky Haryadi Supriyono</a:t>
            </a:r>
          </a:p>
          <a:p>
            <a:pPr algn="l"/>
            <a:r>
              <a:rPr lang="id-ID" dirty="0"/>
              <a:t>		      Avrian Rizki Maulana</a:t>
            </a:r>
            <a:endParaRPr lang="en-ID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95AB51-19F8-02C7-3CA4-85638294C6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dirty="0"/>
              <a:t>Struktur Data</a:t>
            </a:r>
            <a:br>
              <a:rPr lang="id-ID" dirty="0"/>
            </a:b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52274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B9C5-9D4D-4437-A867-07121F446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Merge Sort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3FD89-405F-3241-8149-F17772ABF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id-ID" sz="2000" kern="0" dirty="0">
                <a:solidFill>
                  <a:srgbClr val="000000"/>
                </a:solidFill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M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erge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sort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merupakan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algoritma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program </a:t>
            </a:r>
            <a:r>
              <a:rPr lang="id-ID" sz="2000" u="sng" kern="0" dirty="0">
                <a:solidFill>
                  <a:srgbClr val="038383"/>
                </a:solidFill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komputer</a:t>
            </a:r>
            <a:r>
              <a:rPr lang="en-ID" sz="2000" u="sng" kern="0" dirty="0">
                <a:solidFill>
                  <a:srgbClr val="038383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  <a:hlinkClick r:id="rId2"/>
              </a:rPr>
              <a:t> </a:t>
            </a:r>
            <a:r>
              <a:rPr lang="en-ID" sz="2000" i="1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sorting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atau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penggabungan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yang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didasarkan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pada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prinsip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Devide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and Conquer Algorithm.</a:t>
            </a:r>
            <a:endParaRPr lang="en-ID" sz="2000" kern="100" dirty="0">
              <a:effectLst/>
              <a:highlight>
                <a:srgbClr val="FFFFFF"/>
              </a:highlight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Jenis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algoritma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ini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dibagi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menjadi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beberapa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sub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masalah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. Jadi,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setiap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sub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masalah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tersebut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akan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diselesaikan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secara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individual.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Nantinya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, sub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masalah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digabungkan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untuk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mencari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solusi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akhir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.</a:t>
            </a:r>
            <a:endParaRPr lang="en-ID" sz="2000" kern="100" dirty="0">
              <a:effectLst/>
              <a:highlight>
                <a:srgbClr val="FFFFFF"/>
              </a:highlight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Sederhananya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, proses Merge Sort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dalam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pemrograman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adalah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membagi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masalah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menjadi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beberapa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bagian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kemudian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mengurutkan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setiap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bagian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.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Selanjutnya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,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menggabungkan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bagian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yang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telah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diurutkan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kembali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menjadi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 </a:t>
            </a:r>
            <a:r>
              <a:rPr lang="en-ID" sz="2000" kern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satu</a:t>
            </a:r>
            <a:r>
              <a:rPr lang="en-ID" sz="2000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ea typeface="Times New Roman" panose="02020603050405020304" pitchFamily="18" charset="0"/>
                <a:cs typeface="Heebo" pitchFamily="2" charset="-79"/>
              </a:rPr>
              <a:t>.</a:t>
            </a:r>
            <a:endParaRPr lang="en-ID" sz="2000" kern="100" dirty="0">
              <a:effectLst/>
              <a:highlight>
                <a:srgbClr val="FFFFFF"/>
              </a:highlight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D" sz="2000" dirty="0"/>
              <a:t>Program </a:t>
            </a:r>
            <a:r>
              <a:rPr lang="en-ID" sz="2000" dirty="0" err="1"/>
              <a:t>algoritma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termasuk</a:t>
            </a:r>
            <a:r>
              <a:rPr lang="en-ID" sz="2000" dirty="0"/>
              <a:t> </a:t>
            </a:r>
            <a:r>
              <a:rPr lang="en-ID" sz="2000" dirty="0" err="1"/>
              <a:t>populer</a:t>
            </a:r>
            <a:r>
              <a:rPr lang="en-ID" sz="2000" dirty="0"/>
              <a:t> di </a:t>
            </a:r>
            <a:r>
              <a:rPr lang="en-ID" sz="2000" dirty="0" err="1"/>
              <a:t>kalangan</a:t>
            </a:r>
            <a:r>
              <a:rPr lang="en-ID" sz="2000" dirty="0"/>
              <a:t> programmer </a:t>
            </a:r>
            <a:r>
              <a:rPr lang="en-ID" sz="2000" dirty="0" err="1"/>
              <a:t>karena</a:t>
            </a:r>
            <a:r>
              <a:rPr lang="en-ID" sz="2000" dirty="0"/>
              <a:t> </a:t>
            </a:r>
            <a:r>
              <a:rPr lang="en-ID" sz="2000" dirty="0" err="1"/>
              <a:t>mengurutkan</a:t>
            </a:r>
            <a:r>
              <a:rPr lang="en-ID" sz="2000" dirty="0"/>
              <a:t> data set </a:t>
            </a:r>
            <a:r>
              <a:rPr lang="en-ID" sz="2000" dirty="0" err="1"/>
              <a:t>besar</a:t>
            </a:r>
            <a:r>
              <a:rPr lang="en-ID" sz="2000" dirty="0"/>
              <a:t> dan </a:t>
            </a:r>
            <a:r>
              <a:rPr lang="en-ID" sz="2000" dirty="0" err="1"/>
              <a:t>relatif</a:t>
            </a:r>
            <a:r>
              <a:rPr lang="en-ID" sz="2000" dirty="0"/>
              <a:t> </a:t>
            </a:r>
            <a:r>
              <a:rPr lang="en-ID" sz="2000" dirty="0" err="1"/>
              <a:t>efisien</a:t>
            </a:r>
            <a:r>
              <a:rPr lang="en-ID" sz="2000" dirty="0"/>
              <a:t> </a:t>
            </a:r>
            <a:r>
              <a:rPr lang="en-ID" sz="2000" dirty="0" err="1"/>
              <a:t>serta</a:t>
            </a:r>
            <a:r>
              <a:rPr lang="en-ID" sz="2000" dirty="0"/>
              <a:t> </a:t>
            </a:r>
            <a:r>
              <a:rPr lang="en-ID" sz="2000" dirty="0" err="1"/>
              <a:t>mudah</a:t>
            </a:r>
            <a:r>
              <a:rPr lang="en-ID" sz="2000" dirty="0"/>
              <a:t> </a:t>
            </a:r>
            <a:r>
              <a:rPr lang="en-ID" sz="2000" dirty="0" err="1"/>
              <a:t>diimplementasikan</a:t>
            </a:r>
            <a:r>
              <a:rPr lang="en-ID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155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90235-F82D-0E00-8173-4DEBDC8B4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Kelebihan dan Kekurangan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FC0C9-3438-0AE4-34E6-7B92E05BE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d-ID" sz="2000" dirty="0"/>
              <a:t>Kelebihan </a:t>
            </a:r>
          </a:p>
          <a:p>
            <a:r>
              <a:rPr lang="id-ID" sz="2000" dirty="0"/>
              <a:t>Algoritma ini dapat digunakan untuk mengurutkan data dari besar ke kecil begitupun sebaliknya</a:t>
            </a:r>
          </a:p>
          <a:p>
            <a:r>
              <a:rPr lang="id-ID" sz="2000" dirty="0"/>
              <a:t>Sederhana untuk dipahami dan diterapkan</a:t>
            </a:r>
          </a:p>
          <a:p>
            <a:pPr marL="0" indent="0">
              <a:buNone/>
            </a:pPr>
            <a:endParaRPr lang="id-ID" sz="2000" dirty="0"/>
          </a:p>
          <a:p>
            <a:pPr marL="0" indent="0">
              <a:buNone/>
            </a:pPr>
            <a:r>
              <a:rPr lang="id-ID" sz="2000" dirty="0"/>
              <a:t>Kekurangan </a:t>
            </a:r>
          </a:p>
          <a:p>
            <a:r>
              <a:rPr lang="id-ID" sz="2000" dirty="0"/>
              <a:t>Metode pengurutan menjadi sulit bila data dalam jumlah yang sangat banyak</a:t>
            </a:r>
          </a:p>
          <a:p>
            <a:r>
              <a:rPr lang="id-ID" sz="2000" dirty="0"/>
              <a:t>Jika list urut terbalik harus mengganti seluruh bagian elemen atau nilai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103685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4F2B2-D831-840F-ED76-1E45AC260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Contoh Merge Sort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1B195-4B96-9420-BA11-3A36EC140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sz="2000" dirty="0"/>
              <a:t>Pada </a:t>
            </a:r>
            <a:r>
              <a:rPr lang="en-ID" sz="2000" dirty="0" err="1"/>
              <a:t>contoh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array </a:t>
            </a:r>
            <a:r>
              <a:rPr lang="en-ID" sz="2000" dirty="0" err="1"/>
              <a:t>atau</a:t>
            </a:r>
            <a:r>
              <a:rPr lang="en-ID" sz="2000" dirty="0"/>
              <a:t> </a:t>
            </a:r>
            <a:r>
              <a:rPr lang="en-ID" sz="2000" dirty="0" err="1"/>
              <a:t>larik</a:t>
            </a:r>
            <a:r>
              <a:rPr lang="en-ID" sz="2000" dirty="0"/>
              <a:t> </a:t>
            </a:r>
            <a:r>
              <a:rPr lang="en-ID" sz="2000" dirty="0" err="1"/>
              <a:t>kode</a:t>
            </a:r>
            <a:r>
              <a:rPr lang="en-ID" sz="2000" dirty="0"/>
              <a:t> yang </a:t>
            </a:r>
            <a:r>
              <a:rPr lang="en-ID" sz="2000" dirty="0" err="1"/>
              <a:t>diberikan</a:t>
            </a:r>
            <a:r>
              <a:rPr lang="en-ID" sz="2000" dirty="0"/>
              <a:t> </a:t>
            </a:r>
            <a:r>
              <a:rPr lang="en-ID" sz="2000" dirty="0" err="1"/>
              <a:t>adalah</a:t>
            </a:r>
            <a:r>
              <a:rPr lang="en-ID" sz="2000" dirty="0"/>
              <a:t> </a:t>
            </a:r>
            <a:r>
              <a:rPr lang="id-ID" sz="2000" dirty="0"/>
              <a:t>14,7,3, dan 12</a:t>
            </a:r>
            <a:r>
              <a:rPr lang="en-ID" sz="2000" dirty="0"/>
              <a:t>. Cara </a:t>
            </a:r>
            <a:r>
              <a:rPr lang="en-ID" sz="2000" dirty="0" err="1"/>
              <a:t>kerja</a:t>
            </a:r>
            <a:r>
              <a:rPr lang="en-ID" sz="2000" dirty="0"/>
              <a:t> Merge Sort </a:t>
            </a:r>
            <a:r>
              <a:rPr lang="en-ID" sz="2000" dirty="0" err="1"/>
              <a:t>larik</a:t>
            </a:r>
            <a:r>
              <a:rPr lang="en-ID" sz="2000" dirty="0"/>
              <a:t> </a:t>
            </a:r>
            <a:r>
              <a:rPr lang="en-ID" sz="2000" dirty="0" err="1"/>
              <a:t>kode</a:t>
            </a:r>
            <a:r>
              <a:rPr lang="en-ID" sz="2000" dirty="0"/>
              <a:t> </a:t>
            </a:r>
            <a:r>
              <a:rPr lang="en-ID" sz="2000" dirty="0" err="1"/>
              <a:t>tersebut</a:t>
            </a:r>
            <a:r>
              <a:rPr lang="en-ID" sz="2000" dirty="0"/>
              <a:t> </a:t>
            </a:r>
            <a:r>
              <a:rPr lang="en-ID" sz="2000" dirty="0" err="1"/>
              <a:t>dibagi</a:t>
            </a:r>
            <a:r>
              <a:rPr lang="en-ID" sz="2000" dirty="0"/>
              <a:t> </a:t>
            </a:r>
            <a:r>
              <a:rPr lang="en-ID" sz="2000" dirty="0" err="1"/>
              <a:t>menjadi</a:t>
            </a:r>
            <a:r>
              <a:rPr lang="en-ID" sz="2000" dirty="0"/>
              <a:t> </a:t>
            </a:r>
            <a:r>
              <a:rPr lang="en-ID" sz="2000" dirty="0" err="1"/>
              <a:t>beberapa</a:t>
            </a:r>
            <a:r>
              <a:rPr lang="en-ID" sz="2000" dirty="0"/>
              <a:t> sub-array. </a:t>
            </a:r>
            <a:r>
              <a:rPr lang="en-ID" sz="2000" dirty="0" err="1"/>
              <a:t>Nantinya</a:t>
            </a:r>
            <a:r>
              <a:rPr lang="en-ID" sz="2000" dirty="0"/>
              <a:t>, </a:t>
            </a:r>
            <a:r>
              <a:rPr lang="en-ID" sz="2000" dirty="0" err="1"/>
              <a:t>setiap</a:t>
            </a:r>
            <a:r>
              <a:rPr lang="en-ID" sz="2000" dirty="0"/>
              <a:t> sub </a:t>
            </a:r>
            <a:r>
              <a:rPr lang="en-ID" sz="2000" dirty="0" err="1"/>
              <a:t>diselesaikan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terpisah</a:t>
            </a:r>
            <a:r>
              <a:rPr lang="en-ID" sz="2000" dirty="0"/>
              <a:t>. </a:t>
            </a:r>
            <a:r>
              <a:rPr lang="en-ID" sz="2000" dirty="0" err="1"/>
              <a:t>Berikut</a:t>
            </a:r>
            <a:r>
              <a:rPr lang="en-ID" sz="2000" dirty="0"/>
              <a:t> </a:t>
            </a:r>
            <a:r>
              <a:rPr lang="en-ID" sz="2000" dirty="0" err="1"/>
              <a:t>caranya</a:t>
            </a:r>
            <a:r>
              <a:rPr lang="en-ID" sz="2000" dirty="0"/>
              <a:t>:</a:t>
            </a:r>
            <a:endParaRPr lang="id-ID" sz="2000" dirty="0"/>
          </a:p>
          <a:p>
            <a:r>
              <a:rPr lang="it-IT" sz="2000" dirty="0"/>
              <a:t>Bagi array dari </a:t>
            </a:r>
            <a:r>
              <a:rPr lang="id-ID" sz="2000" dirty="0"/>
              <a:t>4</a:t>
            </a:r>
            <a:r>
              <a:rPr lang="it-IT" sz="2000" dirty="0"/>
              <a:t> elemen kode di atas sep</a:t>
            </a:r>
            <a:r>
              <a:rPr lang="id-ID" sz="2000" dirty="0"/>
              <a:t>e</a:t>
            </a:r>
            <a:r>
              <a:rPr lang="it-IT" sz="2000" dirty="0"/>
              <a:t>rti di baw</a:t>
            </a:r>
            <a:r>
              <a:rPr lang="id-ID" sz="2000" dirty="0"/>
              <a:t>a</a:t>
            </a:r>
            <a:r>
              <a:rPr lang="it-IT" sz="2000" dirty="0"/>
              <a:t>h ini</a:t>
            </a:r>
            <a:r>
              <a:rPr lang="id-ID" sz="2000" dirty="0"/>
              <a:t>.</a:t>
            </a:r>
          </a:p>
          <a:p>
            <a:pPr marL="0" indent="0">
              <a:buNone/>
            </a:pPr>
            <a:endParaRPr lang="id-ID" sz="2000" dirty="0"/>
          </a:p>
          <a:p>
            <a:pPr marL="0" indent="0">
              <a:buNone/>
            </a:pPr>
            <a:endParaRPr lang="id-ID" sz="2000" dirty="0"/>
          </a:p>
          <a:p>
            <a:r>
              <a:rPr lang="id-ID" sz="2000" dirty="0"/>
              <a:t>Array 1 adalah 14,7. Array 2 adalah 3,12.</a:t>
            </a:r>
          </a:p>
          <a:p>
            <a:pPr marL="0" indent="0">
              <a:buNone/>
            </a:pPr>
            <a:endParaRPr lang="id-ID" sz="2000" dirty="0"/>
          </a:p>
          <a:p>
            <a:pPr marL="0" indent="0">
              <a:buNone/>
            </a:pPr>
            <a:endParaRPr lang="id-ID" sz="2000" dirty="0"/>
          </a:p>
          <a:p>
            <a:r>
              <a:rPr lang="id-ID" sz="2000" dirty="0"/>
              <a:t>Next</a:t>
            </a:r>
          </a:p>
          <a:p>
            <a:pPr marL="0" indent="0">
              <a:buNone/>
            </a:pPr>
            <a:endParaRPr lang="id-ID" sz="2000" dirty="0"/>
          </a:p>
          <a:p>
            <a:pPr marL="0" indent="0">
              <a:buNone/>
            </a:pPr>
            <a:endParaRPr lang="id-ID" sz="2000" dirty="0"/>
          </a:p>
          <a:p>
            <a:pPr marL="0" indent="0">
              <a:buNone/>
            </a:pPr>
            <a:endParaRPr lang="en-ID" sz="2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B04715-4926-D716-CA2F-A53BA9160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38050" rIns="0" bIns="2380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PT Serif" panose="020A0603040505020204" pitchFamily="18" charset="0"/>
                <a:cs typeface="Heebo" pitchFamily="2" charset="-79"/>
              </a:rPr>
              <a:t>Bagi array dari 7 elemen kode di atas seeprti di bawah ini.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ebo" pitchFamily="2" charset="-79"/>
              <a:cs typeface="Heebo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7A92DD-4FC4-3ECD-DC7E-57BA7B3663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11" b="9380"/>
          <a:stretch/>
        </p:blipFill>
        <p:spPr>
          <a:xfrm>
            <a:off x="1038555" y="3207658"/>
            <a:ext cx="2857748" cy="6241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371038-825D-5081-61CD-1F8EBB7CF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555" y="4310887"/>
            <a:ext cx="3414056" cy="6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162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50711F-196F-1A7D-2EF4-94B2D65C2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Contoh Merge Sort</a:t>
            </a:r>
            <a:endParaRPr lang="en-I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3116CC-36CA-4065-CCB1-7C60587CEC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D" sz="2000" dirty="0" err="1"/>
              <a:t>Bandingkan</a:t>
            </a:r>
            <a:r>
              <a:rPr lang="en-ID" sz="2000" dirty="0"/>
              <a:t> </a:t>
            </a:r>
            <a:r>
              <a:rPr lang="en-ID" sz="2000" dirty="0" err="1"/>
              <a:t>elemen</a:t>
            </a:r>
            <a:r>
              <a:rPr lang="en-ID" sz="2000" dirty="0"/>
              <a:t> di </a:t>
            </a:r>
            <a:r>
              <a:rPr lang="en-ID" sz="2000" dirty="0" err="1"/>
              <a:t>setiap</a:t>
            </a:r>
            <a:r>
              <a:rPr lang="en-ID" sz="2000" dirty="0"/>
              <a:t> daftar dan </a:t>
            </a:r>
            <a:r>
              <a:rPr lang="en-ID" sz="2000" dirty="0" err="1"/>
              <a:t>gabungkan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cara</a:t>
            </a:r>
            <a:r>
              <a:rPr lang="en-ID" sz="2000" dirty="0"/>
              <a:t> </a:t>
            </a:r>
            <a:r>
              <a:rPr lang="en-ID" sz="2000" dirty="0" err="1"/>
              <a:t>mengurutkan</a:t>
            </a:r>
            <a:r>
              <a:rPr lang="en-ID" sz="2000" dirty="0"/>
              <a:t>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daftar lain. </a:t>
            </a:r>
            <a:r>
              <a:rPr lang="en-ID" sz="2000" dirty="0" err="1"/>
              <a:t>Misalnya</a:t>
            </a:r>
            <a:r>
              <a:rPr lang="en-ID" sz="2000" dirty="0"/>
              <a:t>, </a:t>
            </a:r>
            <a:r>
              <a:rPr lang="en-ID" sz="2000" dirty="0" err="1"/>
              <a:t>bandingkan</a:t>
            </a:r>
            <a:r>
              <a:rPr lang="en-ID" sz="2000" dirty="0"/>
              <a:t> 1</a:t>
            </a:r>
            <a:r>
              <a:rPr lang="id-ID" sz="2000" dirty="0"/>
              <a:t>4</a:t>
            </a:r>
            <a:r>
              <a:rPr lang="en-ID" sz="2000" dirty="0"/>
              <a:t> dan </a:t>
            </a:r>
            <a:r>
              <a:rPr lang="id-ID" sz="2000" dirty="0"/>
              <a:t>4</a:t>
            </a:r>
            <a:r>
              <a:rPr lang="en-ID" sz="2000" dirty="0"/>
              <a:t>, dan </a:t>
            </a:r>
            <a:r>
              <a:rPr lang="en-ID" sz="2000" dirty="0" err="1"/>
              <a:t>urutannya</a:t>
            </a:r>
            <a:r>
              <a:rPr lang="en-ID" sz="2000" dirty="0"/>
              <a:t> </a:t>
            </a:r>
            <a:r>
              <a:rPr lang="en-ID" sz="2000" dirty="0" err="1"/>
              <a:t>dibalik</a:t>
            </a:r>
            <a:r>
              <a:rPr lang="en-ID" sz="2000" dirty="0"/>
              <a:t>. </a:t>
            </a:r>
            <a:endParaRPr lang="id-ID" sz="2000" dirty="0"/>
          </a:p>
          <a:p>
            <a:pPr marL="0" indent="0">
              <a:buNone/>
            </a:pPr>
            <a:endParaRPr lang="en-ID" sz="2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8CD24A-450B-2244-563D-106AF6B915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D" sz="2000" dirty="0" err="1"/>
              <a:t>Bandingkan</a:t>
            </a:r>
            <a:r>
              <a:rPr lang="en-ID" sz="2000" dirty="0"/>
              <a:t> 3 dan </a:t>
            </a:r>
            <a:r>
              <a:rPr lang="id-ID" sz="2000" dirty="0"/>
              <a:t>12</a:t>
            </a:r>
            <a:r>
              <a:rPr lang="en-ID" sz="2000" dirty="0"/>
              <a:t>, </a:t>
            </a:r>
            <a:r>
              <a:rPr lang="en-ID" sz="2000" dirty="0" err="1"/>
              <a:t>mereka</a:t>
            </a:r>
            <a:r>
              <a:rPr lang="en-ID" sz="2000" dirty="0"/>
              <a:t> </a:t>
            </a:r>
            <a:r>
              <a:rPr lang="en-ID" sz="2000" dirty="0" err="1"/>
              <a:t>berada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urutan</a:t>
            </a:r>
            <a:r>
              <a:rPr lang="en-ID" sz="2000" dirty="0"/>
              <a:t> yang </a:t>
            </a:r>
            <a:r>
              <a:rPr lang="en-ID" sz="2000" dirty="0" err="1"/>
              <a:t>benar</a:t>
            </a:r>
            <a:r>
              <a:rPr lang="en-ID" sz="2000" dirty="0"/>
              <a:t>.</a:t>
            </a:r>
            <a:endParaRPr lang="id-ID" sz="2000" dirty="0"/>
          </a:p>
          <a:p>
            <a:endParaRPr lang="id-ID" sz="2000" dirty="0"/>
          </a:p>
          <a:p>
            <a:pPr marL="0" indent="0">
              <a:buNone/>
            </a:pPr>
            <a:endParaRPr lang="id-ID" sz="2000" dirty="0"/>
          </a:p>
          <a:p>
            <a:pPr marL="0" indent="0">
              <a:buNone/>
            </a:pPr>
            <a:r>
              <a:rPr lang="en-ID" sz="2000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AD8669-1FFB-EECF-049F-C8DCCE00B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31" y="3115045"/>
            <a:ext cx="2559683" cy="23877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84A709-5636-749A-B508-C61D8E5ED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231" y="3115045"/>
            <a:ext cx="2782351" cy="238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21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BD0BBEE-2C11-2686-5917-3ACC9EDA4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Contoh Merge Sort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CFB94-662C-E75E-3729-103AACA3FE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D" sz="2000" dirty="0" err="1"/>
              <a:t>Kemudian</a:t>
            </a:r>
            <a:r>
              <a:rPr lang="en-ID" sz="2000" dirty="0"/>
              <a:t> daftar </a:t>
            </a:r>
            <a:r>
              <a:rPr lang="en-ID" sz="2000" dirty="0" err="1"/>
              <a:t>akan</a:t>
            </a:r>
            <a:r>
              <a:rPr lang="en-ID" sz="2000" dirty="0"/>
              <a:t> </a:t>
            </a:r>
            <a:r>
              <a:rPr lang="en-ID" sz="2000" dirty="0" err="1"/>
              <a:t>terlihat</a:t>
            </a:r>
            <a:r>
              <a:rPr lang="en-ID" sz="2000" dirty="0"/>
              <a:t> </a:t>
            </a:r>
            <a:r>
              <a:rPr lang="en-ID" sz="2000" dirty="0" err="1"/>
              <a:t>seperti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setelah</a:t>
            </a:r>
            <a:r>
              <a:rPr lang="en-ID" sz="2000" dirty="0"/>
              <a:t> </a:t>
            </a:r>
            <a:r>
              <a:rPr lang="en-ID" sz="2000" dirty="0" err="1"/>
              <a:t>penggabungan</a:t>
            </a:r>
            <a:r>
              <a:rPr lang="en-ID" sz="2000" dirty="0"/>
              <a:t> </a:t>
            </a:r>
            <a:r>
              <a:rPr lang="en-ID" sz="2000" dirty="0" err="1"/>
              <a:t>terakhir</a:t>
            </a:r>
            <a:r>
              <a:rPr lang="en-ID" sz="2000" dirty="0"/>
              <a:t>.</a:t>
            </a:r>
            <a:endParaRPr lang="id-ID" sz="2000" dirty="0"/>
          </a:p>
          <a:p>
            <a:pPr marL="0" indent="0">
              <a:buNone/>
            </a:pPr>
            <a:endParaRPr lang="en-ID" sz="20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23743E6-8F0F-BE25-62D3-F9D050C3C6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D" sz="2000" dirty="0"/>
              <a:t>Jika </a:t>
            </a:r>
            <a:r>
              <a:rPr lang="en-ID" sz="2000" dirty="0" err="1"/>
              <a:t>digabung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beberapa</a:t>
            </a:r>
            <a:r>
              <a:rPr lang="en-ID" sz="2000" dirty="0"/>
              <a:t> sub array, </a:t>
            </a:r>
            <a:r>
              <a:rPr lang="en-ID" sz="2000" dirty="0" err="1"/>
              <a:t>hasil</a:t>
            </a:r>
            <a:r>
              <a:rPr lang="en-ID" sz="2000" dirty="0"/>
              <a:t> </a:t>
            </a:r>
            <a:r>
              <a:rPr lang="en-ID" sz="2000" dirty="0" err="1"/>
              <a:t>akhirnya</a:t>
            </a:r>
            <a:r>
              <a:rPr lang="en-ID" sz="2000" dirty="0"/>
              <a:t> </a:t>
            </a:r>
            <a:r>
              <a:rPr lang="en-ID" sz="2000" dirty="0" err="1"/>
              <a:t>akan</a:t>
            </a:r>
            <a:r>
              <a:rPr lang="en-ID" sz="2000" dirty="0"/>
              <a:t> </a:t>
            </a:r>
            <a:r>
              <a:rPr lang="en-ID" sz="2000" dirty="0" err="1"/>
              <a:t>seperti</a:t>
            </a:r>
            <a:r>
              <a:rPr lang="en-ID" sz="2000" dirty="0"/>
              <a:t> pada </a:t>
            </a:r>
            <a:r>
              <a:rPr lang="en-ID" sz="2000" dirty="0" err="1"/>
              <a:t>gambar</a:t>
            </a:r>
            <a:r>
              <a:rPr lang="en-ID" sz="2000" dirty="0"/>
              <a:t> </a:t>
            </a:r>
            <a:r>
              <a:rPr lang="en-ID" sz="2000" dirty="0" err="1"/>
              <a:t>berikut</a:t>
            </a:r>
            <a:r>
              <a:rPr lang="en-ID" sz="2000" dirty="0"/>
              <a:t>.</a:t>
            </a:r>
            <a:endParaRPr lang="id-ID" sz="2000" dirty="0"/>
          </a:p>
          <a:p>
            <a:endParaRPr lang="id-ID" sz="2000" dirty="0"/>
          </a:p>
          <a:p>
            <a:pPr marL="0" indent="0">
              <a:buNone/>
            </a:pPr>
            <a:endParaRPr lang="en-ID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77893-E0E8-4A68-DB97-4EAF1CCDA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71558"/>
            <a:ext cx="5181600" cy="11472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D5421F-9FB6-DD5A-A8B6-29ABE0651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389" y="2423442"/>
            <a:ext cx="4244708" cy="406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720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330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Heebo</vt:lpstr>
      <vt:lpstr>PT Serif</vt:lpstr>
      <vt:lpstr>Times New Roman</vt:lpstr>
      <vt:lpstr>Office Theme</vt:lpstr>
      <vt:lpstr>Struktur Data </vt:lpstr>
      <vt:lpstr>Merge Sort</vt:lpstr>
      <vt:lpstr>Kelebihan dan Kekurangan </vt:lpstr>
      <vt:lpstr>Contoh Merge Sort </vt:lpstr>
      <vt:lpstr>Contoh Merge Sort</vt:lpstr>
      <vt:lpstr>Contoh Merge Sort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Struktur Data </dc:title>
  <dc:creator>laptop hp hp</dc:creator>
  <cp:lastModifiedBy>laptop hp hp</cp:lastModifiedBy>
  <cp:revision>1</cp:revision>
  <dcterms:created xsi:type="dcterms:W3CDTF">2024-04-29T04:16:48Z</dcterms:created>
  <dcterms:modified xsi:type="dcterms:W3CDTF">2024-04-29T04:40:58Z</dcterms:modified>
</cp:coreProperties>
</file>